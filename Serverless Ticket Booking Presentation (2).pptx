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Calibri" pitchFamily="34" charset="0"/>
      <p:regular r:id="rId13"/>
      <p:bold r:id="rId14"/>
      <p:italic r:id="rId15"/>
      <p:boldItalic r:id="rId16"/>
    </p:embeddedFont>
    <p:embeddedFont>
      <p:font typeface="Inter" charset="0"/>
      <p:regular r:id="rId17"/>
      <p:bold r:id="rId18"/>
      <p:italic r:id="rId19"/>
      <p:boldItalic r:id="rId20"/>
    </p:embeddedFont>
    <p:embeddedFont>
      <p:font typeface="Poppins SemiBold" charset="0"/>
      <p:regular r:id="rId21"/>
      <p:bold r:id="rId22"/>
      <p:italic r:id="rId23"/>
      <p:boldItalic r:id="rId24"/>
    </p:embeddedFont>
    <p:embeddedFont>
      <p:font typeface="Inter Medium" charset="0"/>
      <p:regular r:id="rId25"/>
      <p:bold r:id="rId26"/>
      <p:italic r:id="rId27"/>
      <p:boldItalic r:id="rId28"/>
    </p:embeddedFont>
    <p:embeddedFont>
      <p:font typeface="Inter SemiBold" charset="0"/>
      <p:regular r:id="rId29"/>
      <p:bold r:id="rId30"/>
      <p:italic r:id="rId31"/>
      <p:boldItalic r:id="rId32"/>
    </p:embeddedFont>
    <p:embeddedFont>
      <p:font typeface="Poppins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805FF3FA-9BA9-4902-B0E5-309EA535E2F1}">
  <a:tblStyle styleId="{805FF3FA-9BA9-4902-B0E5-309EA535E2F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58" y="6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font" Target="fonts/font22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font" Target="fonts/font24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font" Target="fonts/font2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69687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51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3584823"/>
            <a:ext cx="9048750" cy="161508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71525" y="1753344"/>
            <a:ext cx="9525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71525" y="1753351"/>
            <a:ext cx="10001400" cy="12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SERVERLESS ARCHITECTURE USING AWS</a:t>
            </a:r>
            <a:r>
              <a:rPr lang="en-US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FOR TICKET BOOKING APPLICATION</a:t>
            </a:r>
            <a:endParaRPr sz="1800"/>
          </a:p>
        </p:txBody>
      </p:sp>
      <p:sp>
        <p:nvSpPr>
          <p:cNvPr id="88" name="Google Shape;88;p13"/>
          <p:cNvSpPr txBox="1"/>
          <p:nvPr/>
        </p:nvSpPr>
        <p:spPr>
          <a:xfrm>
            <a:off x="771525" y="3103810"/>
            <a:ext cx="762000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Prepared in partial fulfillment of the Summer Internship program AWS at </a:t>
            </a:r>
            <a:r>
              <a:rPr lang="en-US" sz="1275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NAIPUNYAM (నైపుణ్యం)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71525" y="3784848"/>
            <a:ext cx="40719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UNDER THE GUIDANCE OF: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71525" y="4028628"/>
            <a:ext cx="4071937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Mrs. Sumana Bethala</a:t>
            </a:r>
            <a:r>
              <a:rPr lang="en-US" sz="10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APSSDC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71525" y="4279999"/>
            <a:ext cx="407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8105712" y="4246986"/>
            <a:ext cx="49767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PRESENTED BY: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8105712" y="4414978"/>
            <a:ext cx="49767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Bollada Yaswanth Durga Vara Prasad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8105712" y="4611771"/>
            <a:ext cx="49767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Ponnada Ram Punith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105700" y="4965639"/>
            <a:ext cx="49767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Vari Yamini Venkata Srivalli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105700" y="4786394"/>
            <a:ext cx="49767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Gudepu Kyathi Lahari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8105750" y="5144900"/>
            <a:ext cx="49767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Gonugunta Likhitha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51A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210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19987" y="2547937"/>
            <a:ext cx="26670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00987" y="2928937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1767036"/>
            <a:ext cx="5133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056536" y="2814637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10317509" y="4738687"/>
            <a:ext cx="76200" cy="76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1114425" y="2875657"/>
            <a:ext cx="47910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01.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Problem Statement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114425" y="3321397"/>
            <a:ext cx="47910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02.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Solution Overview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114425" y="3767137"/>
            <a:ext cx="47910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03.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Key Features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114425" y="4212877"/>
            <a:ext cx="47910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04.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AWS Services Used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114425" y="4658617"/>
            <a:ext cx="47910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05.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System Architecture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114425" y="5104358"/>
            <a:ext cx="47910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06.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Future Work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114425" y="5550098"/>
            <a:ext cx="47910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07.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Conclusion</a:t>
            </a:r>
            <a:endParaRPr/>
          </a:p>
        </p:txBody>
      </p:sp>
      <p:pic>
        <p:nvPicPr>
          <p:cNvPr id="115" name="Google Shape;11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24887" y="36528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290899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335473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38004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424621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469195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513769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558343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4"/>
          <p:cNvSpPr txBox="1"/>
          <p:nvPr/>
        </p:nvSpPr>
        <p:spPr>
          <a:xfrm>
            <a:off x="962025" y="1734600"/>
            <a:ext cx="11031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51A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766119"/>
            <a:ext cx="5210175" cy="1779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0300" y="2766119"/>
            <a:ext cx="5210175" cy="177909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2125875" y="4781473"/>
            <a:ext cx="10649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009650" y="3575744"/>
            <a:ext cx="473392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Traditional hosting methods require active 24/7 server allocations, resulting in significant resource underutilization and high standby costs during baseline traffic periods.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448425" y="3575744"/>
            <a:ext cx="473392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Monolithic environments frequently fail under sudden bursts of transaction traffic, such as popular ticket release slots, leading to system timeouts, errors, and double-bookings.</a:t>
            </a:r>
            <a:endParaRPr/>
          </a:p>
        </p:txBody>
      </p:sp>
      <p:pic>
        <p:nvPicPr>
          <p:cNvPr id="134" name="Google Shape;13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9650" y="311378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1381125" y="3023294"/>
            <a:ext cx="407535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9D5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High Running Operational Overhead</a:t>
            </a:r>
            <a:endParaRPr/>
          </a:p>
        </p:txBody>
      </p:sp>
      <p:pic>
        <p:nvPicPr>
          <p:cNvPr id="136" name="Google Shape;13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48425" y="311378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6819900" y="3023294"/>
            <a:ext cx="392095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9D5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Concurrency Spikes &amp; Failure Rates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914400" y="581025"/>
            <a:ext cx="1103137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51A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771525" y="2431851"/>
            <a:ext cx="51339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Constructing an Event-Driven Microservices Layer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708219" y="3863280"/>
            <a:ext cx="4290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810375" y="4272855"/>
            <a:ext cx="4086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114425" y="2896641"/>
            <a:ext cx="47910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Zero Idle State Overheads: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Computes execute dynamically and spin down instantly after processing, removing fixed active server costs.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114425" y="3890962"/>
            <a:ext cx="47910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Elastic Autoscaling Bounds: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Computational runtime nodes scale up on-demand to manage heavy booking requests.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114425" y="4610992"/>
            <a:ext cx="47910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Secure Compliant Payments: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External billing integration maps transaction liabilities away from database layers.</a:t>
            </a:r>
            <a:endParaRPr/>
          </a:p>
        </p:txBody>
      </p:sp>
      <p:pic>
        <p:nvPicPr>
          <p:cNvPr id="150" name="Google Shape;15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929979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392430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4644330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914400" y="581025"/>
            <a:ext cx="1103137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Solution Overview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51A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679501"/>
            <a:ext cx="3422600" cy="2403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2679501"/>
            <a:ext cx="3422600" cy="2403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97725" y="2679501"/>
            <a:ext cx="3422600" cy="240387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1009650" y="3460551"/>
            <a:ext cx="309366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9D5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Dynamic Catalogs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009650" y="3870126"/>
            <a:ext cx="294635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Instantaneous event listings synced to modern localized static dashboard interfaces via on-demand NoSQL database extractions.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4622750" y="3460551"/>
            <a:ext cx="309366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9D5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Secure Transactions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4622750" y="3870126"/>
            <a:ext cx="294635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Cryptographic billing workflows. Payment integrations ensure consumer details remain isolated from inner cloud storage nodes.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235850" y="3460551"/>
            <a:ext cx="309366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9D5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Automated Sync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8235850" y="3870126"/>
            <a:ext cx="294635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Asynchronous webhook handlers coordinate post-payment balances to securely update remaining ticket allocations.</a:t>
            </a:r>
            <a:endParaRPr/>
          </a:p>
        </p:txBody>
      </p:sp>
      <p:pic>
        <p:nvPicPr>
          <p:cNvPr id="168" name="Google Shape;16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9650" y="2965251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22750" y="2965251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35850" y="2965251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914400" y="581025"/>
            <a:ext cx="1103137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Features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51A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123330"/>
            <a:ext cx="10648950" cy="351621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8" name="Google Shape;178;p18"/>
          <p:cNvGraphicFramePr/>
          <p:nvPr>
            <p:extLst>
              <p:ext uri="{D42A27DB-BD31-4B8C-83A1-F6EECF244321}">
                <p14:modId xmlns:p14="http://schemas.microsoft.com/office/powerpoint/2010/main" val="3574454927"/>
              </p:ext>
            </p:extLst>
          </p:nvPr>
        </p:nvGraphicFramePr>
        <p:xfrm>
          <a:off x="781050" y="2132855"/>
          <a:ext cx="10629900" cy="3497125"/>
        </p:xfrm>
        <a:graphic>
          <a:graphicData uri="http://schemas.openxmlformats.org/drawingml/2006/table">
            <a:tbl>
              <a:tblPr firstRow="1" bandRow="1">
                <a:noFill/>
                <a:tableStyleId>{805FF3FA-9BA9-4902-B0E5-309EA535E2F1}</a:tableStyleId>
              </a:tblPr>
              <a:tblGrid>
                <a:gridCol w="1786675"/>
                <a:gridCol w="2006200"/>
                <a:gridCol w="6837025"/>
              </a:tblGrid>
              <a:tr h="69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AWS Resource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Classification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Practical Functional Implementation Role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855F7"/>
                    </a:solidFill>
                  </a:tcPr>
                </a:tc>
              </a:tr>
              <a:tr h="69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Amazon S3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Object Storage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Hosts static frontend web assets globally with high availability and minimal latency.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9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API Gateway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smtClean="0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Server less  </a:t>
                      </a:r>
                      <a:r>
                        <a:rPr lang="en-US" sz="1200" b="0" i="0" u="none" strike="noStrike" cap="none" dirty="0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Networking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Exposes public backend endpoints and handles incoming routing pathways with custom CORS parameters.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9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AWS Lambda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Compute Runtimes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Runs backend operational scripts inside isolated, on-demand containers that scale automatically.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9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Amazon DynamoDB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NoSQL Datastore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Persists booking configurations and ticket inventories with consistent single-digit millisecond response times.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9" name="Google Shape;179;p18"/>
          <p:cNvSpPr/>
          <p:nvPr/>
        </p:nvSpPr>
        <p:spPr>
          <a:xfrm>
            <a:off x="781050" y="2661493"/>
            <a:ext cx="178668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2567731" y="2661493"/>
            <a:ext cx="200620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4573934" y="2661493"/>
            <a:ext cx="683701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771525" y="3430613"/>
            <a:ext cx="178668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2567730" y="3430613"/>
            <a:ext cx="200620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4573932" y="3430613"/>
            <a:ext cx="683701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781049" y="4137774"/>
            <a:ext cx="178668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2567731" y="4131974"/>
            <a:ext cx="200620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4583460" y="4128249"/>
            <a:ext cx="683701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781050" y="4823370"/>
            <a:ext cx="178668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2567731" y="4823370"/>
            <a:ext cx="200620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4573934" y="4823370"/>
            <a:ext cx="683701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914400" y="581025"/>
            <a:ext cx="1103137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AWS Services Used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51A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3883" y="3736478"/>
            <a:ext cx="9584233" cy="1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/>
          <p:nvPr/>
        </p:nvSpPr>
        <p:spPr>
          <a:xfrm>
            <a:off x="1653629" y="328731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8051A"/>
          </a:solidFill>
          <a:ln w="28575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723606" y="3582590"/>
            <a:ext cx="201259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9D5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Client Access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771525" y="3877865"/>
            <a:ext cx="1916757" cy="692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User initiates web browser interactions through front-end files served from Amazon S3 bucket endpoints.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3836640" y="328731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8051A"/>
          </a:solidFill>
          <a:ln w="28575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2906617" y="3582590"/>
            <a:ext cx="201259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9D5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API Gateway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2954535" y="3877865"/>
            <a:ext cx="1916757" cy="51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Client clicks trigger network operations routed through API Gateway mapping rules.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6019651" y="328731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8051A"/>
          </a:solidFill>
          <a:ln w="28575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5089627" y="3582590"/>
            <a:ext cx="201259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9D5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Lambda Compute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5137546" y="3877865"/>
            <a:ext cx="1916757" cy="51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AWS Lambda fires dynamically to verify seat configurations and generate processing URLs.</a:t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8202662" y="328731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8051A"/>
          </a:solidFill>
          <a:ln w="28575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7272638" y="3582590"/>
            <a:ext cx="201259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9D5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Payment Processing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7320557" y="3877865"/>
            <a:ext cx="1916757" cy="692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Stripe payment interfaces execute safe financial transactions, returning secure transaction webhook payloads.</a:t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10385673" y="328731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8051A"/>
          </a:solidFill>
          <a:ln w="28575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9455649" y="3582590"/>
            <a:ext cx="201259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9D5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5. State Storage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9503568" y="3877865"/>
            <a:ext cx="1916757" cy="51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Fulfillment modules commit log history and decrement available ticket balances in DynamoDB.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914400" y="581025"/>
            <a:ext cx="1103137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System Architecture Flow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51A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455515"/>
            <a:ext cx="5133975" cy="285169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6553200" y="3195488"/>
            <a:ext cx="486060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3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Development Priorities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553200" y="3652688"/>
            <a:ext cx="46291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Our development roadmap prioritizes transactional security, zero server maintenance overhead, and high platform throughput, ensuring our infrastructure remains scalable and resilient in enterprise environments.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1114425" y="2455515"/>
            <a:ext cx="4791075" cy="77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Interactive Seating Maps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1114425" y="3406080"/>
            <a:ext cx="4791075" cy="77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Digital QR Ticket Automation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1114425" y="4356645"/>
            <a:ext cx="4791075" cy="77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Dynamic Pricing Models</a:t>
            </a:r>
            <a:endParaRPr/>
          </a:p>
        </p:txBody>
      </p:sp>
      <p:pic>
        <p:nvPicPr>
          <p:cNvPr id="225" name="Google Shape;22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3200" y="3243113"/>
            <a:ext cx="157757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1114425" y="2777430"/>
            <a:ext cx="47910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Structuring live WebSockets inside API Gateway to render and reserve individual event seats dynamically.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1114425" y="3727995"/>
            <a:ext cx="47910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Automating cryptographic QR-coded booking documents with automated emailing workflows.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1114425" y="4678560"/>
            <a:ext cx="47910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Using analytical metrics to adjust pricing variables based on customer purchase demand velocity.</a:t>
            </a:r>
            <a:endParaRPr/>
          </a:p>
        </p:txBody>
      </p:sp>
      <p:pic>
        <p:nvPicPr>
          <p:cNvPr id="229" name="Google Shape;22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248885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343941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438998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 txBox="1"/>
          <p:nvPr/>
        </p:nvSpPr>
        <p:spPr>
          <a:xfrm>
            <a:off x="914400" y="581025"/>
            <a:ext cx="1103137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 Work</a:t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771525" y="581025"/>
            <a:ext cx="47625" cy="52387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51A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325141"/>
            <a:ext cx="10648950" cy="3112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9650" y="3343275"/>
            <a:ext cx="316989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1009650" y="4257675"/>
            <a:ext cx="316989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SERVERLESS INFRASTRUCTURE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5141565" y="2563266"/>
            <a:ext cx="674271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 Optimized Cloud Solution for High-Scale Applications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5484465" y="3039516"/>
            <a:ext cx="607873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Zero Constant Overhead: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Eradicates monthly expenditures associated with raw, idle server instances.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5484465" y="3759547"/>
            <a:ext cx="607873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High Scalability: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Computation scales up automatically to match high database transaction volumes.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5484465" y="4479577"/>
            <a:ext cx="607873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Data Protection: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Separates payment details from cloud application infrastructure databases.</a:t>
            </a:r>
            <a:endParaRPr/>
          </a:p>
        </p:txBody>
      </p:sp>
      <p:pic>
        <p:nvPicPr>
          <p:cNvPr id="246" name="Google Shape;24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41565" y="307285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41565" y="379288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41565" y="451291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1"/>
          <p:cNvSpPr txBox="1"/>
          <p:nvPr/>
        </p:nvSpPr>
        <p:spPr>
          <a:xfrm>
            <a:off x="914400" y="581025"/>
            <a:ext cx="1103137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771525" y="581025"/>
            <a:ext cx="47625" cy="52387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51A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54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3238500" y="2873195"/>
            <a:ext cx="6000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3238500" y="4559129"/>
            <a:ext cx="5715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55F7"/>
                </a:solidFill>
                <a:latin typeface="Inter Medium"/>
                <a:ea typeface="Inter Medium"/>
                <a:cs typeface="Inter Medium"/>
                <a:sym typeface="Inter Medium"/>
              </a:rPr>
              <a:t>Questions or Feedback?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3238500" y="3396704"/>
            <a:ext cx="5715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9" name="Google Shape;25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3350" y="4699545"/>
            <a:ext cx="430530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4333875" y="4880520"/>
            <a:ext cx="1828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6448425" y="4880525"/>
            <a:ext cx="1409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562</Words>
  <Application>Microsoft Office PowerPoint</Application>
  <PresentationFormat>Custom</PresentationFormat>
  <Paragraphs>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Inter</vt:lpstr>
      <vt:lpstr>Poppins SemiBold</vt:lpstr>
      <vt:lpstr>Inter Medium</vt:lpstr>
      <vt:lpstr>Inter SemiBold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</cp:lastModifiedBy>
  <cp:revision>4</cp:revision>
  <dcterms:modified xsi:type="dcterms:W3CDTF">2026-07-15T07:34:37Z</dcterms:modified>
</cp:coreProperties>
</file>